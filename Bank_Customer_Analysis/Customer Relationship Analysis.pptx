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0" r:id="rId6"/>
    <p:sldId id="301" r:id="rId7"/>
    <p:sldId id="299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29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 varScale="1">
        <p:scale>
          <a:sx n="58" d="100"/>
          <a:sy n="58" d="100"/>
        </p:scale>
        <p:origin x="988" y="5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88A5C-086C-C15C-5D5A-AD63C2BFB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7BC1C-3CE4-CC20-E8E1-278037635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B5E9D-0307-9D88-6140-5F06A62AF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BD668-27F6-EF36-A661-3230DFCDB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233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4F53-DC60-F8D8-A713-DA33890C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4A219-DAC9-AC54-DDFC-0F7668527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BCEDC-09DF-0245-5A6B-BF310BF39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D3EA2-F891-0CC3-B17E-FF6972657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697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66D6-3FD1-12A5-1651-706C2B51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D19B8-2499-7B5E-4795-5D6E322B1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9CC49-27D5-E00C-DA0A-3FE5A2BC6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8B947-5AAC-9B95-0796-795E85264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87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DF34-7FEC-8C77-F68F-7E0ECBC6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7263A-28E5-6E47-F2F2-680A77200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0658A-2BD0-E75A-4E07-1B3532E7B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C43A7-0452-477D-69C6-9EB394353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148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E4DF2-853D-8103-E85D-457B7580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6703F-7D05-EB78-ACEF-304018A1B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77790-E9CE-7A5D-42E2-D83BEDD70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9D319-4332-2B86-CDEE-7C06856FE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364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EC30-F77C-6D03-C18F-3F8EACEB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9A6F5-78F1-E9C5-D0B4-403E9AC78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5BE64-0306-8DBB-464F-281C3B47B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B2E47-472F-8620-96FF-408E55AB0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534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C290-9642-2242-BD48-78DCB04B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E4226-B243-6F49-6B76-459A99D4B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7B1CC-0D68-5110-C91D-920929629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94C83-C8E3-87FC-E2C1-082A2EAC3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898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71603-ACDB-70E5-A135-BCBB43E4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E4FC8-2BDD-C4DD-5BDC-FFF0468D4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08B26-504C-A10E-A89E-DB4FBA867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02FE2-FA02-DB2B-A337-0FD4DC790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461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8F334-1457-B30A-D870-22055ADE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95154-0D22-2E38-0558-0D29E0D28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6120B-07A9-DC12-642F-E82DB5315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44DA3-6EAE-F0FF-6184-14CB089B4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56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Customer Relationship Analysis &amp; Account Planning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Approach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3"/>
            <a:ext cx="9287515" cy="3737839"/>
          </a:xfrm>
        </p:spPr>
        <p:txBody>
          <a:bodyPr>
            <a:normAutofit/>
          </a:bodyPr>
          <a:lstStyle/>
          <a:p>
            <a:r>
              <a:rPr lang="en-US" sz="2800" b="1" dirty="0"/>
              <a:t>Data Preparation</a:t>
            </a:r>
          </a:p>
          <a:p>
            <a:r>
              <a:rPr lang="en-US" dirty="0"/>
              <a:t>Source: anonymized corporate banking dataset (1-year period, USD)</a:t>
            </a:r>
          </a:p>
          <a:p>
            <a:r>
              <a:rPr lang="en-US" dirty="0"/>
              <a:t>Power Query transformations: Cleaning tasks</a:t>
            </a:r>
          </a:p>
          <a:p>
            <a:pPr lvl="1"/>
            <a:r>
              <a:rPr lang="en-US" dirty="0"/>
              <a:t>Initially data cleaning was performed on the data.</a:t>
            </a:r>
          </a:p>
          <a:p>
            <a:pPr lvl="1"/>
            <a:r>
              <a:rPr lang="en-US" dirty="0"/>
              <a:t>In the Customer name there were some irrelevant information like ( . and number which were changed to unknown.</a:t>
            </a:r>
          </a:p>
          <a:p>
            <a:pPr lvl="1"/>
            <a:r>
              <a:rPr lang="en-US" dirty="0"/>
              <a:t>Some numeric column had NA which were replaced with nulls to avoid datatype mismatch.</a:t>
            </a:r>
          </a:p>
          <a:p>
            <a:pPr lvl="1"/>
            <a:r>
              <a:rPr lang="en-US" dirty="0"/>
              <a:t>Duplicates check was performed to handle duplicate information across the row.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9DEF-5435-8B87-D2FF-3CEAD83C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4948AD-4DBE-DEBA-D139-4B5B48CB0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Approach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AA7D7-41DE-9756-8D20-22E3931D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3"/>
            <a:ext cx="9287515" cy="3737839"/>
          </a:xfrm>
        </p:spPr>
        <p:txBody>
          <a:bodyPr>
            <a:normAutofit fontScale="92500"/>
          </a:bodyPr>
          <a:lstStyle/>
          <a:p>
            <a:r>
              <a:rPr lang="en-US" sz="2800" b="1" dirty="0"/>
              <a:t>Data Preparation</a:t>
            </a:r>
          </a:p>
          <a:p>
            <a:r>
              <a:rPr lang="en-US" dirty="0"/>
              <a:t>Power Query transformations: Additional columns created</a:t>
            </a:r>
          </a:p>
          <a:p>
            <a:pPr lvl="1"/>
            <a:r>
              <a:rPr lang="en-US" dirty="0"/>
              <a:t>Created Net Profit = Gross Profit – Expenses – Credit Cost</a:t>
            </a:r>
          </a:p>
          <a:p>
            <a:pPr lvl="1"/>
            <a:r>
              <a:rPr lang="en-US" dirty="0"/>
              <a:t>Created Product Count = count of active revenue-generating products per customer</a:t>
            </a:r>
          </a:p>
          <a:p>
            <a:pPr lvl="1"/>
            <a:r>
              <a:rPr lang="en-US" dirty="0"/>
              <a:t>Created Deposit Opportunity = Cash Balance – Total Deposits</a:t>
            </a:r>
          </a:p>
          <a:p>
            <a:pPr lvl="1"/>
            <a:r>
              <a:rPr lang="en-US" dirty="0"/>
              <a:t>Created Lending Opportunity = Total Liabilities – Loan Balance</a:t>
            </a:r>
          </a:p>
          <a:p>
            <a:pPr lvl="1"/>
            <a:r>
              <a:rPr lang="en-US" dirty="0"/>
              <a:t>Created Risk Flag = "High Risk" / "Watch List" / "Healthy" based on ROE and Credit Cost thresholds</a:t>
            </a:r>
          </a:p>
          <a:p>
            <a:pPr lvl="1"/>
            <a:r>
              <a:rPr lang="en-US" dirty="0"/>
              <a:t>Created Customer Tier = Grow / Develop / Protect / Review based on profit + wallet share scoring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601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2311D-8C62-F970-D7D9-79BB284EB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12BD4E-8642-A61B-B009-6DA5041BE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Approach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6D001-CA1E-6C5C-5D27-B8B93990D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4"/>
            <a:ext cx="9287515" cy="1523448"/>
          </a:xfrm>
        </p:spPr>
        <p:txBody>
          <a:bodyPr>
            <a:normAutofit/>
          </a:bodyPr>
          <a:lstStyle/>
          <a:p>
            <a:r>
              <a:rPr lang="en-US" sz="2800" b="1" dirty="0"/>
              <a:t>Data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Single fact table (Sheet1) + dedicated Measures_ 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25 DAX measures across 4 folders: Profitability, Risk, Product Mix, Wallet Share</a:t>
            </a:r>
          </a:p>
          <a:p>
            <a:endParaRPr lang="en-US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ACF44E4-66EB-36CC-575F-9FF72C06F628}"/>
              </a:ext>
            </a:extLst>
          </p:cNvPr>
          <p:cNvSpPr txBox="1">
            <a:spLocks/>
          </p:cNvSpPr>
          <p:nvPr/>
        </p:nvSpPr>
        <p:spPr>
          <a:xfrm>
            <a:off x="1167491" y="3885835"/>
            <a:ext cx="9287515" cy="1523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Analysis Framework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4 hypotheses tested, one per dimension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5-page Power BI report with interactive slicers (Branch, Group)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6874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FC56-1B55-6BAB-BB46-D34834C3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B288A5-F08E-49FE-42AF-0320E54F2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520AF-EAB9-16A8-448F-5E967F71D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4"/>
            <a:ext cx="7469733" cy="4068344"/>
          </a:xfrm>
        </p:spPr>
        <p:txBody>
          <a:bodyPr>
            <a:normAutofit/>
          </a:bodyPr>
          <a:lstStyle/>
          <a:p>
            <a:r>
              <a:rPr lang="en-US" sz="2400" b="1" dirty="0"/>
              <a:t>Portfolio at a glance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Branch S is the dominant revenue contributor — highest Gross Profit across all tiers.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Tier 3 – Protect is the largest customer segment (~10K customers), followed by Tier 4 – Review.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Tier 1 – Grow and Tier 2 – Develop are the smallest in count but highest in value — RM effort must be concentrated 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Branch N and S have the highest count of loss-making customers — credit risk is concentrated in these branches.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2A2C3-A3CE-EA92-4DC7-F23DA3C5F38C}"/>
              </a:ext>
            </a:extLst>
          </p:cNvPr>
          <p:cNvSpPr txBox="1"/>
          <p:nvPr/>
        </p:nvSpPr>
        <p:spPr>
          <a:xfrm>
            <a:off x="8071987" y="1242625"/>
            <a:ext cx="2952521" cy="8935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b="0" i="0" dirty="0">
                <a:solidFill>
                  <a:srgbClr val="27251E"/>
                </a:solidFill>
                <a:effectLst/>
                <a:latin typeface="pplxSerif"/>
              </a:rPr>
              <a:t>🏦 </a:t>
            </a:r>
            <a:r>
              <a:rPr lang="en-US" sz="1200" b="1" i="0" dirty="0">
                <a:solidFill>
                  <a:srgbClr val="27251E"/>
                </a:solidFill>
                <a:effectLst/>
                <a:latin typeface="pplxSerif"/>
              </a:rPr>
              <a:t>23,000</a:t>
            </a:r>
            <a:r>
              <a:rPr lang="en-US" sz="1200" b="0" i="0" dirty="0">
                <a:solidFill>
                  <a:srgbClr val="27251E"/>
                </a:solidFill>
                <a:effectLst/>
                <a:latin typeface="pplxSerif"/>
              </a:rPr>
              <a:t> Total Customers</a:t>
            </a:r>
          </a:p>
          <a:p>
            <a:pPr algn="l">
              <a:lnSpc>
                <a:spcPct val="150000"/>
              </a:lnSpc>
            </a:pPr>
            <a:r>
              <a:rPr lang="en-US" sz="1200" b="0" i="0" dirty="0">
                <a:solidFill>
                  <a:srgbClr val="27251E"/>
                </a:solidFill>
                <a:effectLst/>
                <a:latin typeface="pplxSerif"/>
              </a:rPr>
              <a:t>💰 </a:t>
            </a:r>
            <a:r>
              <a:rPr lang="en-US" sz="1200" b="1" i="0" dirty="0">
                <a:solidFill>
                  <a:srgbClr val="27251E"/>
                </a:solidFill>
                <a:effectLst/>
                <a:latin typeface="pplxSerif"/>
              </a:rPr>
              <a:t>$1.74 Billion</a:t>
            </a:r>
            <a:r>
              <a:rPr lang="en-US" sz="1200" b="0" i="0" dirty="0">
                <a:solidFill>
                  <a:srgbClr val="27251E"/>
                </a:solidFill>
                <a:effectLst/>
                <a:latin typeface="pplxSerif"/>
              </a:rPr>
              <a:t> Total Gross Profit</a:t>
            </a:r>
          </a:p>
          <a:p>
            <a:pPr algn="l">
              <a:lnSpc>
                <a:spcPct val="150000"/>
              </a:lnSpc>
            </a:pPr>
            <a:r>
              <a:rPr lang="en-US" sz="1200" b="0" i="0" dirty="0">
                <a:solidFill>
                  <a:srgbClr val="27251E"/>
                </a:solidFill>
                <a:effectLst/>
                <a:latin typeface="pplxSerif"/>
              </a:rPr>
              <a:t>⚠️ </a:t>
            </a:r>
            <a:r>
              <a:rPr lang="en-US" sz="1200" b="1" i="0" dirty="0">
                <a:solidFill>
                  <a:srgbClr val="27251E"/>
                </a:solidFill>
                <a:effectLst/>
                <a:latin typeface="pplxSerif"/>
              </a:rPr>
              <a:t>15</a:t>
            </a:r>
            <a:r>
              <a:rPr lang="en-US" sz="1200" b="0" i="0" dirty="0">
                <a:solidFill>
                  <a:srgbClr val="27251E"/>
                </a:solidFill>
                <a:effectLst/>
                <a:latin typeface="pplxSerif"/>
              </a:rPr>
              <a:t> High Risk Customers</a:t>
            </a:r>
          </a:p>
        </p:txBody>
      </p:sp>
    </p:spTree>
    <p:extLst>
      <p:ext uri="{BB962C8B-B14F-4D97-AF65-F5344CB8AC3E}">
        <p14:creationId xmlns:p14="http://schemas.microsoft.com/office/powerpoint/2010/main" val="382213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19EC-10A3-DB76-77BB-D6A0F5285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C59C03-EFE4-1C5D-EFE6-54BF8C8C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Profitability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90D9-CB23-E3E5-CBD6-7D6AA0C1B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4"/>
            <a:ext cx="7469733" cy="4068344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Cost Efficiency Varies Widely; Profitability Is Concentrated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Cost-to-Income % peaks sharply at ~27% for Customer B — the 40% benchmark line shows most customers are within limits.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Majority of customers cluster near the $0 Gross Profit line — a small set of customers (rightmost in scatter) drive outsized profit.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Loss-making customers exist with negative ROE and near-zero Gross Profit — visible as the bottom-left cluster in the scatter plot.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Net Profit closely tracks Gross Profit for most customers — but a few show significant divergence (high gross, negative net) due to credit cost drag.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 customers by Gross Profit: S and T are the highest contributors.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0085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FCC68-1BCA-5900-BDE6-EA86CB08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35C5E0-7F3C-6B72-25D9-D5BAEB8F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68F4F-50FF-DF67-E75D-F6C8C0D1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4"/>
            <a:ext cx="9375651" cy="4068344"/>
          </a:xfrm>
        </p:spPr>
        <p:txBody>
          <a:bodyPr>
            <a:normAutofit/>
          </a:bodyPr>
          <a:lstStyle/>
          <a:p>
            <a:r>
              <a:rPr lang="en-US" sz="2400" b="1" dirty="0"/>
              <a:t>9% of Customers Flagged; High Risk Concentrated in Key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90.79% (21K) of customers have No Lending exposure — baseline low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~9.05% (2K) are on Watch List — negative ROE or high credit cost ratio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Credit Cost Ratio is highest for Unknown/H/Z customers — outlier </a:t>
            </a:r>
            <a:r>
              <a:rPr lang="en-US" dirty="0" err="1"/>
              <a:t>behaviour</a:t>
            </a:r>
            <a:r>
              <a:rPr lang="en-US" dirty="0"/>
              <a:t> needs investigation.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Branch S and B dominate the High Risk list by loan balance exposure</a:t>
            </a:r>
          </a:p>
        </p:txBody>
      </p:sp>
    </p:spTree>
    <p:extLst>
      <p:ext uri="{BB962C8B-B14F-4D97-AF65-F5344CB8AC3E}">
        <p14:creationId xmlns:p14="http://schemas.microsoft.com/office/powerpoint/2010/main" val="3724498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A16D9-F21D-0FAE-FC32-57CE2420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D51612-4973-9C1C-F90E-D0C12E31F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Product Mix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71D37-C8C8-1B43-1108-352A49BEB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4"/>
            <a:ext cx="9375651" cy="4068344"/>
          </a:xfrm>
        </p:spPr>
        <p:txBody>
          <a:bodyPr>
            <a:normAutofit/>
          </a:bodyPr>
          <a:lstStyle/>
          <a:p>
            <a:r>
              <a:rPr lang="en-US" sz="2400" b="1" dirty="0"/>
              <a:t>More Products = Significantly Higher Profitability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Customers with Product Count = 4 or 5 have the highest Average Gross Profit (~$0.3M+).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Customers with Product Count = 0 have near-zero average gross profit — purely balance sheet relationships with no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TD Profit (green) appears only in higher product count customers — confirming it's a relationship-deepening product.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FX Profit is a thin sliver across all segments — massive cross-sell opportunity.</a:t>
            </a:r>
          </a:p>
        </p:txBody>
      </p:sp>
    </p:spTree>
    <p:extLst>
      <p:ext uri="{BB962C8B-B14F-4D97-AF65-F5344CB8AC3E}">
        <p14:creationId xmlns:p14="http://schemas.microsoft.com/office/powerpoint/2010/main" val="163456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542D-2BBF-7327-37ED-8AA62297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6F4E775-4B54-208D-1B08-5395430C7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Wallet Share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5191B-4BB0-07D0-A252-4E352960B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4"/>
            <a:ext cx="9375651" cy="4068344"/>
          </a:xfrm>
        </p:spPr>
        <p:txBody>
          <a:bodyPr>
            <a:normAutofit/>
          </a:bodyPr>
          <a:lstStyle/>
          <a:p>
            <a:r>
              <a:rPr lang="en-US" sz="2400" b="1" dirty="0"/>
              <a:t>Deposit Wallet Share Is Near Zero; Lending Opportunity Is Massive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Deposit Wallet Share = 0.00 for almost every customer in the detail table — bank is capturing virtually none of their available cash.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Customer A (ID 99) holds $22.58M cash on balance sheet but deposits $0 with the bank — pure opportunity.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Customer A (ID 64) — $93.89M Deposit Opportunity with $0 lending.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Lending Opportunity chart shows Customer B at ~$5T in uncaptured lending — the single biggest opportunity in the portfolio.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Several customers show negative Deposit Opportunity — meaning deposits exceed cash balance, which may indicate data quality or cross-entity netting.</a:t>
            </a:r>
          </a:p>
        </p:txBody>
      </p:sp>
    </p:spTree>
    <p:extLst>
      <p:ext uri="{BB962C8B-B14F-4D97-AF65-F5344CB8AC3E}">
        <p14:creationId xmlns:p14="http://schemas.microsoft.com/office/powerpoint/2010/main" val="1968583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D7463-91AF-682C-111F-0A41F27B5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A918C5-CB0C-D2DD-77D4-23DF2996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Customer Tiering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2E159-B166-30A7-AADD-8C50A24E0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4"/>
            <a:ext cx="9375651" cy="4068344"/>
          </a:xfrm>
        </p:spPr>
        <p:txBody>
          <a:bodyPr>
            <a:normAutofit/>
          </a:bodyPr>
          <a:lstStyle/>
          <a:p>
            <a:r>
              <a:rPr lang="en-US" b="1" dirty="0"/>
              <a:t>Tier	    Label	                                                      Action</a:t>
            </a:r>
          </a:p>
          <a:p>
            <a:r>
              <a:rPr lang="en-US" dirty="0"/>
              <a:t>Tier 1	🟢 Grow	Deepen wallet share, cross-sell FX + Trade Finance</a:t>
            </a:r>
          </a:p>
          <a:p>
            <a:r>
              <a:rPr lang="en-US" dirty="0"/>
              <a:t>Tier 2	🔵 Develop	Introduce new products, increase deposit capture</a:t>
            </a:r>
          </a:p>
          <a:p>
            <a:r>
              <a:rPr lang="en-US" dirty="0"/>
              <a:t>Tier 3	🟡 Protect	Largest segment — retain profit, manage credit cost</a:t>
            </a:r>
          </a:p>
          <a:p>
            <a:r>
              <a:rPr lang="en-US" dirty="0"/>
              <a:t>Tier 4	🔴 Review	Loss-making or zero revenue — restructure or exit</a:t>
            </a:r>
          </a:p>
        </p:txBody>
      </p:sp>
    </p:spTree>
    <p:extLst>
      <p:ext uri="{BB962C8B-B14F-4D97-AF65-F5344CB8AC3E}">
        <p14:creationId xmlns:p14="http://schemas.microsoft.com/office/powerpoint/2010/main" val="1346795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51F7-DD5D-4120-AC4C-B5B4F577E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E3CB27-2211-BF44-8F7A-128FBB559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Customer Tiering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75C7B-6206-D186-41D2-A549AC2F0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4"/>
            <a:ext cx="9375651" cy="4068344"/>
          </a:xfrm>
        </p:spPr>
        <p:txBody>
          <a:bodyPr>
            <a:normAutofit/>
          </a:bodyPr>
          <a:lstStyle/>
          <a:p>
            <a:r>
              <a:rPr lang="en-US" sz="2400" b="1" dirty="0"/>
              <a:t>Priority Recommendations: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Activate FX &amp; Trade Finance for Tier 1 &amp; 2 customers — highest margin, lowest current penetration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Deposit mobilization campaign — 23K customers show near-zero deposit wallet share despite large cash balances on 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Credit review for 15 High Risk + 2K Watch List customers — before deepening any lending relationship in Branch S and B</a:t>
            </a:r>
          </a:p>
        </p:txBody>
      </p:sp>
    </p:spTree>
    <p:extLst>
      <p:ext uri="{BB962C8B-B14F-4D97-AF65-F5344CB8AC3E}">
        <p14:creationId xmlns:p14="http://schemas.microsoft.com/office/powerpoint/2010/main" val="3992596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44</TotalTime>
  <Words>881</Words>
  <Application>Microsoft Office PowerPoint</Application>
  <PresentationFormat>Widescreen</PresentationFormat>
  <Paragraphs>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pplxSerif</vt:lpstr>
      <vt:lpstr>Tenorite</vt:lpstr>
      <vt:lpstr>Custom</vt:lpstr>
      <vt:lpstr>Customer Relationship Analysis &amp; Account Planning</vt:lpstr>
      <vt:lpstr>Approach &amp; Methodology</vt:lpstr>
      <vt:lpstr>Approach &amp; Methodology</vt:lpstr>
      <vt:lpstr>Approach &amp; Methodology</vt:lpstr>
      <vt:lpstr>Executive Summary</vt:lpstr>
      <vt:lpstr>Profitability Analysis</vt:lpstr>
      <vt:lpstr>Risk Assessment</vt:lpstr>
      <vt:lpstr>Product Mix</vt:lpstr>
      <vt:lpstr>Wallet Share</vt:lpstr>
      <vt:lpstr>Customer Tiering &amp; Recommendations</vt:lpstr>
      <vt:lpstr>Customer Tiering &amp;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patel</dc:creator>
  <cp:lastModifiedBy>sandeep patel</cp:lastModifiedBy>
  <cp:revision>1</cp:revision>
  <dcterms:created xsi:type="dcterms:W3CDTF">2026-04-09T19:23:01Z</dcterms:created>
  <dcterms:modified xsi:type="dcterms:W3CDTF">2026-04-09T20:07:37Z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